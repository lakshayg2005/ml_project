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61ff55969aef7cce_3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61ff55969aef7cce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61ff55969aef7cce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h61ff55969aef7cce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1ff55969aef7cce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h61ff55969aef7cce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0896" y="91440"/>
            <a:ext cx="8522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 i="0">
                <a:solidFill>
                  <a:srgbClr val="17375E"/>
                </a:solidFill>
                <a:latin typeface="Arial"/>
              </a:rPr>
              <a:t>Problem Statement</a:t>
            </a:r>
            <a:endParaRPr/>
          </a:p>
        </p:txBody>
      </p:sp>
      <p:sp>
        <p:nvSpPr>
          <p:cNvPr id="100" name="Team"/>
          <p:cNvSpPr txBox="1"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Team:  </a:t>
            </a:r>
            <a:r>
              <a:rPr sz="1200" b="1" i="0">
                <a:solidFill>
                  <a:srgbClr val="262626"/>
                </a:solidFill>
                <a:latin typeface="Arial"/>
              </a:rPr>
              <a:t>Divyansh Dubey </a:t>
            </a:r>
            <a:r>
              <a:rPr sz="1200" b="0" i="0">
                <a:solidFill>
                  <a:srgbClr val="595959"/>
                </a:solidFill>
                <a:latin typeface="Arial"/>
              </a:rPr>
              <a:t>(12340690)</a:t>
            </a:r>
            <a:r>
              <a:rPr sz="1200" b="1" i="0">
                <a:solidFill>
                  <a:srgbClr val="262626"/>
                </a:solidFill>
                <a:latin typeface="Arial"/>
              </a:rPr>
              <a:t>   ·   Keshav Mishra </a:t>
            </a:r>
            <a:r>
              <a:rPr sz="1200" b="0" i="0">
                <a:solidFill>
                  <a:srgbClr val="595959"/>
                </a:solidFill>
                <a:latin typeface="Arial"/>
              </a:rPr>
              <a:t>(12341140)</a:t>
            </a:r>
            <a:r>
              <a:rPr sz="1200" b="1" i="0">
                <a:solidFill>
                  <a:srgbClr val="262626"/>
                </a:solidFill>
                <a:latin typeface="Arial"/>
              </a:rPr>
              <a:t>   ·   Lakshay Gupta </a:t>
            </a:r>
            <a:r>
              <a:rPr sz="1200" b="0" i="0">
                <a:solidFill>
                  <a:srgbClr val="595959"/>
                </a:solidFill>
                <a:latin typeface="Arial"/>
              </a:rPr>
              <a:t>(12341300)</a:t>
            </a:r>
          </a:p>
        </p:txBody>
      </p:sp>
      <p:sp>
        <p:nvSpPr>
          <p:cNvPr id="101" name="Novelty panel"/>
          <p:cNvSpPr/>
          <p:nvPr/>
        </p:nvSpPr>
        <p:spPr>
          <a:xfrm>
            <a:off x="365760" y="1024128"/>
            <a:ext cx="8412480" cy="1444752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</a:p>
        </p:txBody>
      </p:sp>
      <p:sp>
        <p:nvSpPr>
          <p:cNvPr id="102" name="Novelty text"/>
          <p:cNvSpPr txBox="1"/>
          <p:nvPr/>
        </p:nvSpPr>
        <p:spPr>
          <a:xfrm>
            <a:off x="530352" y="1097280"/>
            <a:ext cx="81381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7375E"/>
                </a:solidFill>
                <a:latin typeface="Arial"/>
              </a:rPr>
              <a:t>Novelty  </a:t>
            </a:r>
            <a:r>
              <a:rPr sz="1200" b="1" i="0">
                <a:solidFill>
                  <a:srgbClr val="262626"/>
                </a:solidFill>
                <a:latin typeface="Arial"/>
              </a:rPr>
              <a:t>ECERC Revisited: Mitigating Category Confusion, Class Imbalance and Cause-Gating Miscalibration in Evidence-Cause Attention Networks for Multi-Modal Emotion Recognition in Conversation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ECERC explains each emotion through four cause types (self/cross-party events and emotions). Keeping its causal backbone fixed, we attach one targeted, separately ablated fix to each failure mode it leaves open: confusable emotions, rare emotions, and an uncalibrated way of weighing causes. The key new component turns cause weighting into an explicit, context-aware and availability-masked distribution over the four cause types, and we evaluate it for calibration (ECE), not only accuracy.</a:t>
            </a:r>
          </a:p>
        </p:txBody>
      </p:sp>
      <p:sp>
        <p:nvSpPr>
          <p:cNvPr id="103" name="Contributions heading"/>
          <p:cNvSpPr txBox="1"/>
          <p:nvPr/>
        </p:nvSpPr>
        <p:spPr>
          <a:xfrm>
            <a:off x="365760" y="2596896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75E"/>
                </a:solidFill>
                <a:latin typeface="Arial"/>
              </a:rPr>
              <a:t>Contributions</a:t>
            </a:r>
            <a:r>
              <a:rPr sz="1100" b="0" i="0">
                <a:solidFill>
                  <a:srgbClr val="595959"/>
                </a:solidFill>
                <a:latin typeface="Arial"/>
              </a:rPr>
              <a:t>   all three: joint reproduction of ECERC on IEMOCAP and MELD</a:t>
            </a:r>
          </a:p>
        </p:txBody>
      </p:sp>
      <p:sp>
        <p:nvSpPr>
          <p:cNvPr id="104" name="Card Divyansh Dubey"/>
          <p:cNvSpPr/>
          <p:nvPr/>
        </p:nvSpPr>
        <p:spPr>
          <a:xfrm>
            <a:off x="365760" y="292608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DDF2DD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/>
          </a:p>
        </p:txBody>
      </p:sp>
      <p:sp>
        <p:nvSpPr>
          <p:cNvPr id="105" name="Card text Divyansh Dubey"/>
          <p:cNvSpPr txBox="1"/>
          <p:nvPr/>
        </p:nvSpPr>
        <p:spPr>
          <a:xfrm>
            <a:off x="493776" y="3017520"/>
            <a:ext cx="2441448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5E28"/>
                </a:solidFill>
                <a:latin typeface="Arial"/>
              </a:rPr>
              <a:t>Divyansh Dubey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8B3E"/>
                </a:solidFill>
                <a:latin typeface="Arial"/>
              </a:rPr>
              <a:t>Category Confusion · IEMOCAP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Confusion-aware supervised contrastive loss on fused features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Pair-confusion penalty for Happy↔Excited and Angry↔Frustrated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Best setting P4: pair errors 181.6 → 167.0 (5-seed sweep)</a:t>
            </a:r>
          </a:p>
        </p:txBody>
      </p:sp>
      <p:sp>
        <p:nvSpPr>
          <p:cNvPr id="106" name="Card Keshav Mishra"/>
          <p:cNvSpPr/>
          <p:nvPr/>
        </p:nvSpPr>
        <p:spPr>
          <a:xfrm>
            <a:off x="3223260" y="292608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EAE2F6"/>
          </a:solidFill>
          <a:ln w="15875">
            <a:solidFill>
              <a:srgbClr val="7A5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/>
          </a:p>
        </p:txBody>
      </p:sp>
      <p:sp>
        <p:nvSpPr>
          <p:cNvPr id="107" name="Card text Keshav Mishra"/>
          <p:cNvSpPr txBox="1"/>
          <p:nvPr/>
        </p:nvSpPr>
        <p:spPr>
          <a:xfrm>
            <a:off x="3351276" y="3017520"/>
            <a:ext cx="2441448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45286F"/>
                </a:solidFill>
                <a:latin typeface="Arial"/>
              </a:rPr>
              <a:t>Keshav Mishra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7A52B3"/>
                </a:solidFill>
                <a:latin typeface="Arial"/>
              </a:rPr>
              <a:t>Class Imbalance · MELD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Class-balanced (effective-number) weights and focal loss γ = 2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Dialogue-level oversampling of Fear and Disgust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Controlled 3-seed study, validation-only model selection</a:t>
            </a:r>
          </a:p>
        </p:txBody>
      </p:sp>
      <p:sp>
        <p:nvSpPr>
          <p:cNvPr id="108" name="Card Lakshay Gupta"/>
          <p:cNvSpPr/>
          <p:nvPr/>
        </p:nvSpPr>
        <p:spPr>
          <a:xfrm>
            <a:off x="6080760" y="2926080"/>
            <a:ext cx="2697480" cy="1965960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ctr"/>
          </a:p>
        </p:txBody>
      </p:sp>
      <p:sp>
        <p:nvSpPr>
          <p:cNvPr id="109" name="Card text Lakshay Gupta"/>
          <p:cNvSpPr txBox="1"/>
          <p:nvPr/>
        </p:nvSpPr>
        <p:spPr>
          <a:xfrm>
            <a:off x="6208776" y="3017520"/>
            <a:ext cx="2441448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A3E00"/>
                </a:solidFill>
                <a:latin typeface="Arial"/>
              </a:rPr>
              <a:t>Lakshay Gupta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E07B16"/>
                </a:solidFill>
                <a:latin typeface="Arial"/>
              </a:rPr>
              <a:t>Cause-Gating Calibration · both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CACG: masked cause-level softmax with a per-utterance temperature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Label-grounded utility gate loss; fixed empty-history attention leak</a:t>
            </a:r>
          </a:p>
          <a:p>
            <a:pPr marL="146304" indent="-146304">
              <a:spcBef>
                <a:spcPts val="400"/>
              </a:spcBef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ECE 13.6 → 2.9 (IEMOCAP), 9.5 → 2.4 (MELD)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0896" y="91440"/>
            <a:ext cx="8522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 i="0">
                <a:solidFill>
                  <a:srgbClr val="17375E"/>
                </a:solidFill>
                <a:latin typeface="Arial"/>
              </a:rPr>
              <a:t>Architecture</a:t>
            </a:r>
            <a:endParaRPr/>
          </a:p>
        </p:txBody>
      </p:sp>
      <p:sp>
        <p:nvSpPr>
          <p:cNvPr id="106" name="Input event"/>
          <p:cNvSpPr/>
          <p:nvPr/>
        </p:nvSpPr>
        <p:spPr>
          <a:xfrm>
            <a:off x="2514600" y="749808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Event text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s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i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context + target utterances</a:t>
            </a:r>
          </a:p>
        </p:txBody>
      </p:sp>
      <p:sp>
        <p:nvSpPr>
          <p:cNvPr id="107" name="Input evidence"/>
          <p:cNvSpPr/>
          <p:nvPr/>
        </p:nvSpPr>
        <p:spPr>
          <a:xfrm>
            <a:off x="4343400" y="749808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Emotion evidence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T · A · V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context + target utterances</a:t>
            </a:r>
          </a:p>
        </p:txBody>
      </p:sp>
      <p:sp>
        <p:nvSpPr>
          <p:cNvPr id="108" name="Evidence Gating"/>
          <p:cNvSpPr/>
          <p:nvPr/>
        </p:nvSpPr>
        <p:spPr>
          <a:xfrm>
            <a:off x="4343400" y="1252728"/>
            <a:ext cx="1737360" cy="310896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17375E"/>
                </a:solidFill>
                <a:latin typeface="Arial"/>
              </a:rPr>
              <a:t>Evidence Gating</a:t>
            </a:r>
          </a:p>
        </p:txBody>
      </p:sp>
      <p:sp>
        <p:nvSpPr>
          <p:cNvPr id="109" name="Event Encoding"/>
          <p:cNvSpPr/>
          <p:nvPr/>
        </p:nvSpPr>
        <p:spPr>
          <a:xfrm>
            <a:off x="2514600" y="1700784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17375E"/>
                </a:solidFill>
                <a:latin typeface="Arial"/>
              </a:rPr>
              <a:t>Event Encoding</a:t>
            </a:r>
          </a:p>
        </p:txBody>
      </p:sp>
      <p:sp>
        <p:nvSpPr>
          <p:cNvPr id="110" name="Emotion Encoding"/>
          <p:cNvSpPr/>
          <p:nvPr/>
        </p:nvSpPr>
        <p:spPr>
          <a:xfrm>
            <a:off x="4343400" y="1700784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17375E"/>
                </a:solidFill>
                <a:latin typeface="Arial"/>
              </a:rPr>
              <a:t>Emotion Encoding</a:t>
            </a:r>
          </a:p>
        </p:txBody>
      </p:sp>
      <p:sp>
        <p:nvSpPr>
          <p:cNvPr id="111" name="Attn 0"/>
          <p:cNvSpPr/>
          <p:nvPr/>
        </p:nvSpPr>
        <p:spPr>
          <a:xfrm>
            <a:off x="2514600" y="2167128"/>
            <a:ext cx="836676" cy="457200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Self-Party</a:t>
            </a:r>
          </a:p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Event Attn</a:t>
            </a:r>
          </a:p>
        </p:txBody>
      </p:sp>
      <p:sp>
        <p:nvSpPr>
          <p:cNvPr id="112" name="Attn 1"/>
          <p:cNvSpPr/>
          <p:nvPr/>
        </p:nvSpPr>
        <p:spPr>
          <a:xfrm>
            <a:off x="3424428" y="2167128"/>
            <a:ext cx="836676" cy="457200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Cross-Party</a:t>
            </a:r>
          </a:p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Event Attn</a:t>
            </a:r>
          </a:p>
        </p:txBody>
      </p:sp>
      <p:sp>
        <p:nvSpPr>
          <p:cNvPr id="113" name="Attn 2"/>
          <p:cNvSpPr/>
          <p:nvPr/>
        </p:nvSpPr>
        <p:spPr>
          <a:xfrm>
            <a:off x="4334256" y="2167128"/>
            <a:ext cx="836676" cy="457200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Self-Party</a:t>
            </a:r>
          </a:p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Emotion Attn</a:t>
            </a:r>
          </a:p>
        </p:txBody>
      </p:sp>
      <p:sp>
        <p:nvSpPr>
          <p:cNvPr id="114" name="Attn 3"/>
          <p:cNvSpPr/>
          <p:nvPr/>
        </p:nvSpPr>
        <p:spPr>
          <a:xfrm>
            <a:off x="5244083" y="2167128"/>
            <a:ext cx="836676" cy="457200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Cross-Party</a:t>
            </a:r>
          </a:p>
          <a:p>
            <a:pPr algn="ctr"/>
            <a:r>
              <a:rPr sz="900" b="1" i="0">
                <a:solidFill>
                  <a:srgbClr val="17375E"/>
                </a:solidFill>
                <a:latin typeface="Arial"/>
              </a:rPr>
              <a:t>Emotion Attn</a:t>
            </a:r>
          </a:p>
        </p:txBody>
      </p:sp>
      <p:sp>
        <p:nvSpPr>
          <p:cNvPr id="115" name="Feature Gating"/>
          <p:cNvSpPr/>
          <p:nvPr/>
        </p:nvSpPr>
        <p:spPr>
          <a:xfrm>
            <a:off x="2514600" y="2761488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17375E"/>
                </a:solidFill>
                <a:latin typeface="Arial"/>
              </a:rPr>
              <a:t>Feature Gating</a:t>
            </a:r>
          </a:p>
        </p:txBody>
      </p:sp>
      <p:sp>
        <p:nvSpPr>
          <p:cNvPr id="116" name="CACG"/>
          <p:cNvSpPr/>
          <p:nvPr/>
        </p:nvSpPr>
        <p:spPr>
          <a:xfrm>
            <a:off x="2514600" y="3209544"/>
            <a:ext cx="3566160" cy="475488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7A3E00"/>
                </a:solidFill>
                <a:latin typeface="Arial"/>
              </a:rPr>
              <a:t>Confidence-Aware Cause Gating (CACG)</a:t>
            </a:r>
          </a:p>
          <a:p>
            <a:pPr algn="ctr"/>
            <a:r>
              <a:rPr sz="900" b="0" i="0">
                <a:solidFill>
                  <a:srgbClr val="7A3E00"/>
                </a:solidFill>
                <a:latin typeface="Arial"/>
              </a:rPr>
              <a:t>g</a:t>
            </a:r>
            <a:r>
              <a:rPr sz="900" b="0" i="0" baseline="-25000">
                <a:solidFill>
                  <a:srgbClr val="7A3E00"/>
                </a:solidFill>
                <a:latin typeface="Arial"/>
              </a:rPr>
              <a:t>i</a:t>
            </a:r>
            <a:r>
              <a:rPr sz="900" b="0" i="0">
                <a:solidFill>
                  <a:srgbClr val="7A3E00"/>
                </a:solidFill>
                <a:latin typeface="Arial"/>
              </a:rPr>
              <a:t> = softmax(z</a:t>
            </a:r>
            <a:r>
              <a:rPr sz="900" b="0" i="0" baseline="-25000">
                <a:solidFill>
                  <a:srgbClr val="7A3E00"/>
                </a:solidFill>
                <a:latin typeface="Arial"/>
              </a:rPr>
              <a:t>i</a:t>
            </a:r>
            <a:r>
              <a:rPr sz="900" b="0" i="0">
                <a:solidFill>
                  <a:srgbClr val="7A3E00"/>
                </a:solidFill>
                <a:latin typeface="Arial"/>
              </a:rPr>
              <a:t> / τ</a:t>
            </a:r>
            <a:r>
              <a:rPr sz="900" b="0" i="0" baseline="-25000">
                <a:solidFill>
                  <a:srgbClr val="7A3E00"/>
                </a:solidFill>
                <a:latin typeface="Arial"/>
              </a:rPr>
              <a:t>i</a:t>
            </a:r>
            <a:r>
              <a:rPr sz="900" b="0" i="0">
                <a:solidFill>
                  <a:srgbClr val="7A3E00"/>
                </a:solidFill>
                <a:latin typeface="Arial"/>
              </a:rPr>
              <a:t>), unavailable causes masked</a:t>
            </a:r>
          </a:p>
        </p:txBody>
      </p:sp>
      <p:sp>
        <p:nvSpPr>
          <p:cNvPr id="117" name="Classifier"/>
          <p:cNvSpPr/>
          <p:nvPr/>
        </p:nvSpPr>
        <p:spPr>
          <a:xfrm>
            <a:off x="2514600" y="3822191"/>
            <a:ext cx="3566160" cy="329184"/>
          </a:xfrm>
          <a:prstGeom prst="roundRect">
            <a:avLst>
              <a:gd name="adj" fmla="val 12000"/>
            </a:avLst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 i="0">
                <a:solidFill>
                  <a:srgbClr val="17375E"/>
                </a:solidFill>
                <a:latin typeface="Arial"/>
              </a:rPr>
              <a:t>Emotion Classification (Softmax)</a:t>
            </a:r>
          </a:p>
        </p:txBody>
      </p:sp>
      <p:sp>
        <p:nvSpPr>
          <p:cNvPr id="118" name="Temperature scaling"/>
          <p:cNvSpPr/>
          <p:nvPr/>
        </p:nvSpPr>
        <p:spPr>
          <a:xfrm>
            <a:off x="3246120" y="4288536"/>
            <a:ext cx="2103120" cy="310896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 i="0">
                <a:solidFill>
                  <a:srgbClr val="7A3E00"/>
                </a:solidFill>
                <a:latin typeface="Arial"/>
              </a:rPr>
              <a:t>Temperature Scaling (post-hoc)</a:t>
            </a:r>
          </a:p>
        </p:txBody>
      </p:sp>
      <p:sp>
        <p:nvSpPr>
          <p:cNvPr id="119" name="Output"/>
          <p:cNvSpPr txBox="1"/>
          <p:nvPr/>
        </p:nvSpPr>
        <p:spPr>
          <a:xfrm>
            <a:off x="5577840" y="4288536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Arial"/>
              </a:rPr>
              <a:t>Emotion + calibrated confidence</a:t>
            </a:r>
          </a:p>
        </p:txBody>
      </p:sp>
      <p:sp>
        <p:nvSpPr>
          <p:cNvPr id="120" name="Descriptor"/>
          <p:cNvSpPr/>
          <p:nvPr/>
        </p:nvSpPr>
        <p:spPr>
          <a:xfrm>
            <a:off x="274320" y="2103120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7A3E00"/>
                </a:solidFill>
                <a:latin typeface="Arial"/>
              </a:rPr>
              <a:t>Evidence descriptor h</a:t>
            </a:r>
            <a:r>
              <a:rPr sz="1000" b="1" i="0" baseline="-25000">
                <a:solidFill>
                  <a:srgbClr val="7A3E00"/>
                </a:solidFill>
                <a:latin typeface="Arial"/>
              </a:rPr>
              <a:t>i</a:t>
            </a:r>
          </a:p>
          <a:p>
            <a:pPr algn="ctr"/>
            <a:r>
              <a:rPr sz="850" b="0" i="0">
                <a:solidFill>
                  <a:srgbClr val="7A3E00"/>
                </a:solidFill>
                <a:latin typeface="Arial"/>
              </a:rPr>
              <a:t>modality trust · context size ·</a:t>
            </a:r>
          </a:p>
          <a:p>
            <a:pPr algn="ctr"/>
            <a:r>
              <a:rPr sz="850" b="0" i="0">
                <a:solidFill>
                  <a:srgbClr val="7A3E00"/>
                </a:solidFill>
                <a:latin typeface="Arial"/>
              </a:rPr>
              <a:t>cause overlap</a:t>
            </a:r>
          </a:p>
        </p:txBody>
      </p:sp>
      <p:sp>
        <p:nvSpPr>
          <p:cNvPr id="121" name="Tau MLP"/>
          <p:cNvSpPr/>
          <p:nvPr/>
        </p:nvSpPr>
        <p:spPr>
          <a:xfrm>
            <a:off x="274320" y="2779776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7A3E00"/>
                </a:solidFill>
                <a:latin typeface="Arial"/>
              </a:rPr>
              <a:t>Temperature MLP → τ</a:t>
            </a:r>
            <a:r>
              <a:rPr sz="1000" b="1" i="0" baseline="-25000">
                <a:solidFill>
                  <a:srgbClr val="7A3E00"/>
                </a:solidFill>
                <a:latin typeface="Arial"/>
              </a:rPr>
              <a:t>i</a:t>
            </a:r>
          </a:p>
        </p:txBody>
      </p:sp>
      <p:sp>
        <p:nvSpPr>
          <p:cNvPr id="122" name="Utility loss"/>
          <p:cNvSpPr/>
          <p:nvPr/>
        </p:nvSpPr>
        <p:spPr>
          <a:xfrm>
            <a:off x="274320" y="3785615"/>
            <a:ext cx="1965960" cy="402336"/>
          </a:xfrm>
          <a:prstGeom prst="roundRect">
            <a:avLst>
              <a:gd name="adj" fmla="val 12000"/>
            </a:avLst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 i="0">
                <a:solidFill>
                  <a:srgbClr val="7A3E00"/>
                </a:solidFill>
                <a:latin typeface="Arial"/>
              </a:rPr>
              <a:t>Per-cause heads</a:t>
            </a:r>
          </a:p>
          <a:p>
            <a:pPr algn="ctr"/>
            <a:r>
              <a:rPr sz="900" b="0" i="0">
                <a:solidFill>
                  <a:srgbClr val="7A3E00"/>
                </a:solidFill>
                <a:latin typeface="Arial"/>
              </a:rPr>
              <a:t>utility gate loss KL(q ‖ g)</a:t>
            </a:r>
          </a:p>
        </p:txBody>
      </p:sp>
      <p:sp>
        <p:nvSpPr>
          <p:cNvPr id="123" name="Contrastive"/>
          <p:cNvSpPr/>
          <p:nvPr/>
        </p:nvSpPr>
        <p:spPr>
          <a:xfrm>
            <a:off x="6355080" y="3209544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DDF2DD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1B5E28"/>
                </a:solidFill>
                <a:latin typeface="Arial"/>
              </a:rPr>
              <a:t>Projection head → Contrastive loss</a:t>
            </a:r>
          </a:p>
          <a:p>
            <a:pPr algn="ctr"/>
            <a:r>
              <a:rPr sz="850" b="0" i="0">
                <a:solidFill>
                  <a:srgbClr val="1B5E28"/>
                </a:solidFill>
                <a:latin typeface="Arial"/>
              </a:rPr>
              <a:t>confusable pairs + prototype margin</a:t>
            </a:r>
          </a:p>
        </p:txBody>
      </p:sp>
      <p:sp>
        <p:nvSpPr>
          <p:cNvPr id="124" name="Pair penalty"/>
          <p:cNvSpPr/>
          <p:nvPr/>
        </p:nvSpPr>
        <p:spPr>
          <a:xfrm>
            <a:off x="6355080" y="3822191"/>
            <a:ext cx="2514600" cy="329184"/>
          </a:xfrm>
          <a:prstGeom prst="roundRect">
            <a:avLst>
              <a:gd name="adj" fmla="val 12000"/>
            </a:avLst>
          </a:prstGeom>
          <a:solidFill>
            <a:srgbClr val="DDF2DD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 i="0">
                <a:solidFill>
                  <a:srgbClr val="1B5E28"/>
                </a:solidFill>
                <a:latin typeface="Arial"/>
              </a:rPr>
              <a:t>Pair-confusion penalty</a:t>
            </a:r>
          </a:p>
          <a:p>
            <a:pPr algn="ctr"/>
            <a:r>
              <a:rPr sz="850" b="0" i="0">
                <a:solidFill>
                  <a:srgbClr val="1B5E28"/>
                </a:solidFill>
                <a:latin typeface="Arial"/>
              </a:rPr>
              <a:t>Hap↔Exc · Ang↔Fru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383280" y="1115568"/>
            <a:ext cx="0" cy="585216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212080" y="111556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212080" y="1563624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932938" y="202996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932938" y="262432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842766" y="202996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842766" y="262432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752594" y="202996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752594" y="262432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662421" y="202996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662421" y="2624328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297680" y="3072384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97680" y="3685031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97680" y="4151376"/>
            <a:ext cx="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349240" y="4443984"/>
            <a:ext cx="201167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1257300" y="1408176"/>
            <a:ext cx="3086100" cy="0"/>
          </a:xfrm>
          <a:prstGeom prst="line">
            <a:avLst/>
          </a:prstGeom>
          <a:ln w="15875">
            <a:solidFill>
              <a:srgbClr val="E07B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257300" y="1408176"/>
            <a:ext cx="0" cy="694944"/>
          </a:xfrm>
          <a:prstGeom prst="line">
            <a:avLst/>
          </a:prstGeom>
          <a:ln w="15875">
            <a:solidFill>
              <a:srgbClr val="E07B1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2240279" y="2395728"/>
            <a:ext cx="274321" cy="0"/>
          </a:xfrm>
          <a:prstGeom prst="line">
            <a:avLst/>
          </a:prstGeom>
          <a:ln w="15875">
            <a:solidFill>
              <a:srgbClr val="E07B1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57300" y="2670048"/>
            <a:ext cx="0" cy="109728"/>
          </a:xfrm>
          <a:prstGeom prst="line">
            <a:avLst/>
          </a:prstGeom>
          <a:ln w="15875">
            <a:solidFill>
              <a:srgbClr val="E07B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257300" y="3090672"/>
            <a:ext cx="0" cy="274319"/>
          </a:xfrm>
          <a:prstGeom prst="line">
            <a:avLst/>
          </a:prstGeom>
          <a:ln w="15875">
            <a:solidFill>
              <a:srgbClr val="E07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57300" y="3364991"/>
            <a:ext cx="1257300" cy="0"/>
          </a:xfrm>
          <a:prstGeom prst="line">
            <a:avLst/>
          </a:prstGeom>
          <a:ln w="15875">
            <a:solidFill>
              <a:srgbClr val="E07B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800100" y="3547872"/>
            <a:ext cx="1714500" cy="0"/>
          </a:xfrm>
          <a:prstGeom prst="line">
            <a:avLst/>
          </a:prstGeom>
          <a:ln w="15875">
            <a:solidFill>
              <a:srgbClr val="E07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00100" y="3547872"/>
            <a:ext cx="0" cy="237743"/>
          </a:xfrm>
          <a:prstGeom prst="line">
            <a:avLst/>
          </a:prstGeom>
          <a:ln w="15875">
            <a:solidFill>
              <a:srgbClr val="E07B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080760" y="3447287"/>
            <a:ext cx="274320" cy="0"/>
          </a:xfrm>
          <a:prstGeom prst="line">
            <a:avLst/>
          </a:prstGeom>
          <a:ln w="15875">
            <a:solidFill>
              <a:srgbClr val="2E8B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080760" y="3986783"/>
            <a:ext cx="274320" cy="0"/>
          </a:xfrm>
          <a:prstGeom prst="line">
            <a:avLst/>
          </a:prstGeom>
          <a:ln w="15875">
            <a:solidFill>
              <a:srgbClr val="2E8B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Legend swatch blue"/>
          <p:cNvSpPr/>
          <p:nvPr/>
        </p:nvSpPr>
        <p:spPr>
          <a:xfrm>
            <a:off x="320040" y="4782312"/>
            <a:ext cx="201168" cy="146304"/>
          </a:xfrm>
          <a:prstGeom prst="roundRect">
            <a:avLst/>
          </a:prstGeom>
          <a:solidFill>
            <a:srgbClr val="DCE8F7"/>
          </a:solidFill>
          <a:ln w="1587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Legend blue"/>
          <p:cNvSpPr txBox="1"/>
          <p:nvPr/>
        </p:nvSpPr>
        <p:spPr>
          <a:xfrm>
            <a:off x="576072" y="4727448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ECERC baseline</a:t>
            </a:r>
          </a:p>
        </p:txBody>
      </p:sp>
      <p:sp>
        <p:nvSpPr>
          <p:cNvPr id="152" name="Legend swatch green"/>
          <p:cNvSpPr/>
          <p:nvPr/>
        </p:nvSpPr>
        <p:spPr>
          <a:xfrm>
            <a:off x="1783080" y="4782312"/>
            <a:ext cx="201168" cy="146304"/>
          </a:xfrm>
          <a:prstGeom prst="roundRect">
            <a:avLst/>
          </a:prstGeom>
          <a:solidFill>
            <a:srgbClr val="DDF2DD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Legend green"/>
          <p:cNvSpPr txBox="1"/>
          <p:nvPr/>
        </p:nvSpPr>
        <p:spPr>
          <a:xfrm>
            <a:off x="2039112" y="4727448"/>
            <a:ext cx="10058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Limitation 1</a:t>
            </a:r>
          </a:p>
        </p:txBody>
      </p:sp>
      <p:sp>
        <p:nvSpPr>
          <p:cNvPr id="154" name="Legend swatch orange"/>
          <p:cNvSpPr/>
          <p:nvPr/>
        </p:nvSpPr>
        <p:spPr>
          <a:xfrm>
            <a:off x="3063240" y="4782312"/>
            <a:ext cx="201168" cy="146304"/>
          </a:xfrm>
          <a:prstGeom prst="roundRect">
            <a:avLst/>
          </a:prstGeom>
          <a:solidFill>
            <a:srgbClr val="FDE6CF"/>
          </a:solidFill>
          <a:ln w="15875">
            <a:solidFill>
              <a:srgbClr val="E07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Legend orange"/>
          <p:cNvSpPr txBox="1"/>
          <p:nvPr/>
        </p:nvSpPr>
        <p:spPr>
          <a:xfrm>
            <a:off x="3319272" y="4727448"/>
            <a:ext cx="1508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Limitation 3 (CACG)</a:t>
            </a:r>
          </a:p>
        </p:txBody>
      </p:sp>
      <p:sp>
        <p:nvSpPr>
          <p:cNvPr id="156" name="Legend swatch purple"/>
          <p:cNvSpPr/>
          <p:nvPr/>
        </p:nvSpPr>
        <p:spPr>
          <a:xfrm>
            <a:off x="4846320" y="4782312"/>
            <a:ext cx="201168" cy="146304"/>
          </a:xfrm>
          <a:prstGeom prst="roundRect">
            <a:avLst/>
          </a:prstGeom>
          <a:solidFill>
            <a:srgbClr val="EAE2F6"/>
          </a:solidFill>
          <a:ln w="15875">
            <a:solidFill>
              <a:srgbClr val="7A5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Legend purple"/>
          <p:cNvSpPr txBox="1"/>
          <p:nvPr/>
        </p:nvSpPr>
        <p:spPr>
          <a:xfrm>
            <a:off x="5102352" y="4727448"/>
            <a:ext cx="3749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Limitation 2: loss &amp; sampling only, no architecture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0896" y="91440"/>
            <a:ext cx="8522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 i="0">
                <a:solidFill>
                  <a:srgbClr val="17375E"/>
                </a:solidFill>
                <a:latin typeface="Arial"/>
              </a:rPr>
              <a:t>Results and Findings in Tabular Format</a:t>
            </a:r>
            <a:endParaRPr/>
          </a:p>
        </p:txBody>
      </p:sp>
      <p:graphicFrame>
        <p:nvGraphicFramePr>
          <p:cNvPr id="112" name="Results table"/>
          <p:cNvGraphicFramePr>
            <a:graphicFrameLocks noGrp="1"/>
          </p:cNvGraphicFramePr>
          <p:nvPr/>
        </p:nvGraphicFramePr>
        <p:xfrm>
          <a:off x="274320" y="676656"/>
          <a:ext cx="8595360" cy="3771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7200"/>
                <a:gridCol w="2057400"/>
                <a:gridCol w="502920"/>
                <a:gridCol w="868680"/>
                <a:gridCol w="502920"/>
                <a:gridCol w="502920"/>
                <a:gridCol w="868680"/>
                <a:gridCol w="502920"/>
                <a:gridCol w="2331720"/>
              </a:tblGrid>
              <a:tr h="251460"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Lim.</a:t>
                      </a:r>
                    </a:p>
                  </a:txBody>
                  <a:tcPr marL="36576" marR="36576" marT="9144" marB="9144" anchor="ctr">
                    <a:solidFill>
                      <a:srgbClr val="17375E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36576" marR="36576" marT="9144" marB="9144" anchor="ctr">
                    <a:solidFill>
                      <a:srgbClr val="17375E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IEMOCAP</a:t>
                      </a:r>
                    </a:p>
                  </a:txBody>
                  <a:tcPr marL="36576" marR="36576" marT="9144" marB="9144" anchor="ctr">
                    <a:solidFill>
                      <a:srgbClr val="17375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MELD</a:t>
                      </a:r>
                    </a:p>
                  </a:txBody>
                  <a:tcPr marL="36576" marR="36576" marT="9144" marB="9144" anchor="ctr">
                    <a:solidFill>
                      <a:srgbClr val="17375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Target metric</a:t>
                      </a:r>
                    </a:p>
                  </a:txBody>
                  <a:tcPr marL="36576" marR="36576" marT="9144" marB="9144" anchor="ctr">
                    <a:solidFill>
                      <a:srgbClr val="17375E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wF1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mF1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wF1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mF1</a:t>
                      </a:r>
                    </a:p>
                  </a:txBody>
                  <a:tcPr marL="36576" marR="36576" marT="9144" marB="9144" anchor="ctr">
                    <a:solidFill>
                      <a:srgbClr val="2F6DB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251460"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7375E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36576" marR="36576" marT="9144" marB="9144" anchor="ctr">
                    <a:solidFill>
                      <a:srgbClr val="DC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Paper (reported)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71.60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71.78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67.32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66.46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Released checkpoint (ours)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71.60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71.77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70.73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67.55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66.58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51.36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ECE 11.1 | 5.0</a:t>
                      </a:r>
                    </a:p>
                  </a:txBody>
                  <a:tcPr marL="36576" marR="36576" marT="9144" marB="9144" anchor="ctr">
                    <a:solidFill>
                      <a:srgbClr val="F4F8FD"/>
                    </a:solidFill>
                  </a:tcPr>
                </a:tc>
              </a:tr>
              <a:tr h="251460">
                <a:tc rowSpan="2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5E28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36576" marR="36576" marT="9144" marB="9144" anchor="ctr">
                    <a:solidFill>
                      <a:srgbClr val="DDF2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Authors (released checkpoints)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71.60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71.78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70.82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Hap↔Exc 87.0 · Ang↔Fru 93.5 · Σ 180.5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P4 (ours): pair penalty λ = 4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69.48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69.63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68.49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Hap↔Exc 79.0 · Ang↔Fru 95.3 · Σ 174.3</a:t>
                      </a:r>
                    </a:p>
                  </a:txBody>
                  <a:tcPr marL="36576" marR="36576" marT="9144" marB="9144" anchor="ctr">
                    <a:solidFill>
                      <a:srgbClr val="F1FAF1"/>
                    </a:solidFill>
                  </a:tcPr>
                </a:tc>
              </a:tr>
              <a:tr h="251460">
                <a:tc rowSpan="5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45286F"/>
                          </a:solidFill>
                          <a:latin typeface="Arial"/>
                        </a:rPr>
                        <a:t>L2</a:t>
                      </a:r>
                    </a:p>
                  </a:txBody>
                  <a:tcPr marL="36576" marR="36576" marT="9144" marB="9144" anchor="ctr">
                    <a:solidFill>
                      <a:srgbClr val="EAE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B0: retrained (3 seeds)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66.87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66.00 ± 0.54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50.40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Fear 26.2 · Disg 30.7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CB0.999: class-balanced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64.88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65.36 ± 0.24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49.52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Fear 22.4 · Disg 29.7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FL2: focal γ = 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66.76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65.87 ± 0.35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50.06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Fear 25.5 · Disg 30.2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OS2: Fear/Disg oversampling ×2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66.60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65.78 ± 0.40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50.02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Fear 25.5 · Disg 30.9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FL2 + OS2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66.26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65.37 ± 0.28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49.13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Fear 22.5 · Disg 30.3</a:t>
                      </a:r>
                    </a:p>
                  </a:txBody>
                  <a:tcPr marL="36576" marR="36576" marT="9144" marB="9144" anchor="ctr">
                    <a:solidFill>
                      <a:srgbClr val="F6F2FB"/>
                    </a:solidFill>
                  </a:tcPr>
                </a:tc>
              </a:tr>
              <a:tr h="251460">
                <a:tc rowSpan="4"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7A3E00"/>
                          </a:solidFill>
                          <a:latin typeface="Arial"/>
                        </a:rPr>
                        <a:t>L3</a:t>
                      </a:r>
                    </a:p>
                  </a:txBody>
                  <a:tcPr marL="36576" marR="36576" marT="9144" marB="9144" anchor="ctr">
                    <a:solidFill>
                      <a:srgbClr val="FDE6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Baseline retrained (3 seeds)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69.95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70.11 ± 0.46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69.27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66.65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65.39 ± 0.34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48.96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ECE 13.6→4.2 | 9.5→3.0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CACG, dynamic τ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70.47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70.65 ± 0.86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69.84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66.67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65.34 ± 0.16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48.63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Arial"/>
                        </a:rPr>
                        <a:t>ECE 13.5→2.9 | 9.1→2.4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CACG + utility gate loss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69.11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69.44 ± 1.03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68.75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66.69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65.59 ± 0.04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49.33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ECE 13.5→4.2 | 8.7→3.2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CACG + SOP entropy loss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69.21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69.36 ± 1.29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68.69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66.59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65.20 ± 0.18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47.22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ECE 14.5→4.3 | 8.2→2.5</a:t>
                      </a:r>
                    </a:p>
                  </a:txBody>
                  <a:tcPr marL="36576" marR="36576" marT="9144" marB="9144" anchor="ctr">
                    <a:solidFill>
                      <a:srgbClr val="FEF4EA"/>
                    </a:solidFill>
                  </a:tcPr>
                </a:tc>
              </a:tr>
            </a:tbl>
          </a:graphicData>
        </a:graphic>
      </p:graphicFrame>
      <p:sp>
        <p:nvSpPr>
          <p:cNvPr id="113" name="Table notes"/>
          <p:cNvSpPr txBox="1"/>
          <p:nvPr/>
        </p:nvSpPr>
        <p:spPr>
          <a:xfrm>
            <a:off x="274320" y="4503420"/>
            <a:ext cx="8595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Test-set means over seeds (± = std of wF1). Bold = configuration carried forward per limitation. L1 target = confusions per pair (Authors: mean of 2 released checkpoints; P4: mean of 10 seeds). ECE (%) = raw → after temperature scaling, IEMOCAP | MELD; lower is better. Seeds and retrained baselines differ per limitation, so compare rows within a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