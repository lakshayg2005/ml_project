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670b370949a69fd0_3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670b370949a69fd0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670b370949a69f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670b370949a69f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70b370949a69fd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670b370949a69fd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670b370949a69fd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670b370949a69f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70b370949a69fd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670b370949a69fd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70b370949a69fd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670b370949a69fd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70b370949a69fd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670b370949a69fd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670b370949a69fd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670b370949a69fd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70b370949a69fd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670b370949a69fd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0896" y="91440"/>
            <a:ext cx="8522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0" lang="en" sz="2800">
                <a:solidFill>
                  <a:srgbClr val="17375E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Team:  </a:t>
            </a:r>
            <a:r>
              <a:rPr b="1" i="0" lang="en" spc="0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Divyansh Dubey </a:t>
            </a:r>
            <a:r>
              <a:rPr b="0" i="0" lang="en" spc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(12340690)</a:t>
            </a:r>
            <a:r>
              <a:rPr b="1" i="0" lang="en" spc="0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  ·   Keshav Mishra </a:t>
            </a:r>
            <a:r>
              <a:rPr b="0" i="0" lang="en" spc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(12341140)</a:t>
            </a:r>
            <a:r>
              <a:rPr b="1" i="0" lang="en" spc="0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  ·   Lakshay Gupta </a:t>
            </a:r>
            <a:r>
              <a:rPr b="0" i="0" lang="en" spc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(12341300)</a:t>
            </a:r>
            <a:endParaRPr/>
          </a:p>
        </p:txBody>
      </p:sp>
      <p:sp>
        <p:nvSpPr>
          <p:cNvPr id="101" name="Google Shape;101;p25"/>
          <p:cNvSpPr/>
          <p:nvPr/>
        </p:nvSpPr>
        <p:spPr>
          <a:xfrm>
            <a:off x="365760" y="1024128"/>
            <a:ext cx="8412480" cy="1444752"/>
          </a:xfrm>
          <a:prstGeom prst="roundRect">
            <a:avLst>
              <a:gd fmla="val 12000" name="adj"/>
            </a:avLst>
          </a:prstGeom>
          <a:solidFill>
            <a:srgbClr val="EEF4FB"/>
          </a:solidFill>
          <a:ln cap="flat" cmpd="sng" w="12700">
            <a:solidFill>
              <a:srgbClr val="2F6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530352" y="1097280"/>
            <a:ext cx="8138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500" u="none" cap="none" strike="noStrike">
                <a:solidFill>
                  <a:srgbClr val="17375E"/>
                </a:solidFill>
                <a:latin typeface="Arial"/>
                <a:ea typeface="Arial"/>
                <a:cs typeface="Arial"/>
                <a:sym typeface="Arial"/>
              </a:rPr>
              <a:t>Novelty  </a:t>
            </a:r>
            <a:r>
              <a:rPr b="1" i="0" lang="en" spc="0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ECERC Revisited: Mitigating Category Confusion, Class Imbalance and Cause-Gating Miscalibration in Evidence-Cause Attention Networks for Multi-Modal Emotion Recognition in Conversation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pc="0" sz="11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ECERC explains each emotion through four cause types (self/cross-party events and emotions). Keeping its causal backbone fixed, we attach one targeted, separately ablated fix to each failure mode it leaves open: confusable emotions, rare emotions, and an uncalibrated way of weighing causes. The key new component turns cause weighting into an explicit, context-aware and availability-masked distribution over the four cause types, and we evaluate it for calibration (ECE), not only accuracy.</a:t>
            </a:r>
            <a:endParaRPr/>
          </a:p>
        </p:txBody>
      </p:sp>
      <p:sp>
        <p:nvSpPr>
          <p:cNvPr id="103" name="Google Shape;103;p25"/>
          <p:cNvSpPr txBox="1"/>
          <p:nvPr/>
        </p:nvSpPr>
        <p:spPr>
          <a:xfrm>
            <a:off x="365760" y="25968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500" u="none" cap="none" strike="noStrike">
                <a:solidFill>
                  <a:srgbClr val="17375E"/>
                </a:solidFill>
                <a:latin typeface="Arial"/>
                <a:ea typeface="Arial"/>
                <a:cs typeface="Arial"/>
                <a:sym typeface="Arial"/>
              </a:rPr>
              <a:t>Contributions</a:t>
            </a:r>
            <a:r>
              <a:rPr b="0" i="0" lang="en" spc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all three: joint reproduction of ECERC on IEMOCAP and MELD</a:t>
            </a:r>
            <a:endParaRPr/>
          </a:p>
        </p:txBody>
      </p:sp>
      <p:sp>
        <p:nvSpPr>
          <p:cNvPr id="104" name="Google Shape;104;p25"/>
          <p:cNvSpPr/>
          <p:nvPr/>
        </p:nvSpPr>
        <p:spPr>
          <a:xfrm>
            <a:off x="365760" y="2926080"/>
            <a:ext cx="2697480" cy="1965960"/>
          </a:xfrm>
          <a:prstGeom prst="roundRect">
            <a:avLst>
              <a:gd fmla="val 12000" name="adj"/>
            </a:avLst>
          </a:prstGeom>
          <a:solidFill>
            <a:srgbClr val="DDF2DD"/>
          </a:solidFill>
          <a:ln cap="flat" cmpd="sng" w="15875">
            <a:solidFill>
              <a:srgbClr val="2E8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493776" y="3017520"/>
            <a:ext cx="2441448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300" u="none" cap="none" strike="noStrike">
                <a:solidFill>
                  <a:srgbClr val="1B5E28"/>
                </a:solidFill>
                <a:latin typeface="Arial"/>
                <a:ea typeface="Arial"/>
                <a:cs typeface="Arial"/>
                <a:sym typeface="Arial"/>
              </a:rPr>
              <a:t>Divyansh Dubey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pc="0" sz="1050" u="none" cap="none" strike="noStrike">
                <a:solidFill>
                  <a:srgbClr val="2E8B3E"/>
                </a:solidFill>
                <a:latin typeface="Arial"/>
                <a:ea typeface="Arial"/>
                <a:cs typeface="Arial"/>
                <a:sym typeface="Arial"/>
              </a:rPr>
              <a:t>Category Confusion · IEMOCAP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Confusion-aware supervised contrastive loss on fused features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Pair-confusion penalty for Happy↔Excited and Angry↔Frustrated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P4 vs authors: pair errors 180.5 → 174.3 (Hap↔Exc 87.0 → 79.0)</a:t>
            </a:r>
            <a:endParaRPr/>
          </a:p>
        </p:txBody>
      </p:sp>
      <p:sp>
        <p:nvSpPr>
          <p:cNvPr id="106" name="Google Shape;106;p25"/>
          <p:cNvSpPr/>
          <p:nvPr/>
        </p:nvSpPr>
        <p:spPr>
          <a:xfrm>
            <a:off x="3223260" y="2926080"/>
            <a:ext cx="2697480" cy="1965960"/>
          </a:xfrm>
          <a:prstGeom prst="roundRect">
            <a:avLst>
              <a:gd fmla="val 12000" name="adj"/>
            </a:avLst>
          </a:prstGeom>
          <a:solidFill>
            <a:srgbClr val="EAE2F6"/>
          </a:solidFill>
          <a:ln cap="flat" cmpd="sng" w="15875">
            <a:solidFill>
              <a:srgbClr val="7A52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3351276" y="3017520"/>
            <a:ext cx="2441448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300" u="none" cap="none" strike="noStrike">
                <a:solidFill>
                  <a:srgbClr val="45286F"/>
                </a:solidFill>
                <a:latin typeface="Arial"/>
                <a:ea typeface="Arial"/>
                <a:cs typeface="Arial"/>
                <a:sym typeface="Arial"/>
              </a:rPr>
              <a:t>Keshav Mishra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pc="0" sz="1050" u="none" cap="none" strike="noStrike">
                <a:solidFill>
                  <a:srgbClr val="7A52B3"/>
                </a:solidFill>
                <a:latin typeface="Arial"/>
                <a:ea typeface="Arial"/>
                <a:cs typeface="Arial"/>
                <a:sym typeface="Arial"/>
              </a:rPr>
              <a:t>Class Imbalance · MELD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Class-balanced (effective-number) weights and focal loss γ = 2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Dialogue-level oversampling of Fear and Disgust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Controlled 3-seed study, validation-only model selection</a:t>
            </a:r>
            <a:endParaRPr/>
          </a:p>
        </p:txBody>
      </p:sp>
      <p:sp>
        <p:nvSpPr>
          <p:cNvPr id="108" name="Google Shape;108;p25"/>
          <p:cNvSpPr/>
          <p:nvPr/>
        </p:nvSpPr>
        <p:spPr>
          <a:xfrm>
            <a:off x="6080760" y="2926080"/>
            <a:ext cx="2697480" cy="1965960"/>
          </a:xfrm>
          <a:prstGeom prst="roundRect">
            <a:avLst>
              <a:gd fmla="val 12000" name="adj"/>
            </a:avLst>
          </a:prstGeom>
          <a:solidFill>
            <a:srgbClr val="FDE6CF"/>
          </a:solidFill>
          <a:ln cap="flat" cmpd="sng" w="15875">
            <a:solidFill>
              <a:srgbClr val="E07B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6208776" y="3017520"/>
            <a:ext cx="2441448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pc="0" sz="1300" u="none" cap="none" strike="noStrike">
                <a:solidFill>
                  <a:srgbClr val="7A3E00"/>
                </a:solidFill>
                <a:latin typeface="Arial"/>
                <a:ea typeface="Arial"/>
                <a:cs typeface="Arial"/>
                <a:sym typeface="Arial"/>
              </a:rPr>
              <a:t>Lakshay Gupta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pc="0" sz="1050" u="none" cap="none" strike="noStrike">
                <a:solidFill>
                  <a:srgbClr val="E07B16"/>
                </a:solidFill>
                <a:latin typeface="Arial"/>
                <a:ea typeface="Arial"/>
                <a:cs typeface="Arial"/>
                <a:sym typeface="Arial"/>
              </a:rPr>
              <a:t>Cause-Gating Calibration · both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CACG: masked cause-level softmax with a per-utterance temperature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Label-grounded utility gate loss; fixed empty-history attention leak</a:t>
            </a:r>
            <a:endParaRPr/>
          </a:p>
          <a:p>
            <a:pPr indent="-146304" lvl="0" marL="14630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" spc="0" sz="1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ECE 13.6 → 2.9 (IEMOCAP), 9.5 → 2.4 (MELD)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/>
          <p:cNvPicPr preferRelativeResize="0"/>
          <p:nvPr/>
        </p:nvPicPr>
        <p:blipFill rotWithShape="1">
          <a:blip r:embed="rId3">
            <a:alphaModFix/>
          </a:blip>
          <a:srcRect b="-5899" l="0" r="-5053" t="0"/>
          <a:stretch/>
        </p:blipFill>
        <p:spPr>
          <a:xfrm>
            <a:off x="5254850" y="0"/>
            <a:ext cx="35915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0" y="344925"/>
            <a:ext cx="4995601" cy="400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00" y="61075"/>
            <a:ext cx="3636196" cy="508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7"/>
          <p:cNvPicPr preferRelativeResize="0"/>
          <p:nvPr/>
        </p:nvPicPr>
        <p:blipFill rotWithShape="1">
          <a:blip r:embed="rId4">
            <a:alphaModFix/>
          </a:blip>
          <a:srcRect b="-2800" l="1570" r="-1570" t="2800"/>
          <a:stretch/>
        </p:blipFill>
        <p:spPr>
          <a:xfrm>
            <a:off x="5186700" y="0"/>
            <a:ext cx="35344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2782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875" y="668162"/>
            <a:ext cx="6536213" cy="1903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369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053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58708"/>
            <a:ext cx="8839200" cy="1607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01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69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97995"/>
            <a:ext cx="8839196" cy="195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