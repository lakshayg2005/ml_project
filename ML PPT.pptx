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h670b370949a69fd0_3_45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h670b370949a69fd0_3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h670b370949a69fd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h670b370949a69fd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h670b370949a69fd0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h670b370949a69fd0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h670b370949a69fd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h670b370949a69fd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h670b370949a69fd0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h670b370949a69fd0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h670b370949a69fd0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h670b370949a69fd0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h670b370949a69fd0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h670b370949a69fd0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h670b370949a69fd0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h670b370949a69fd0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h670b370949a69fd0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h670b370949a69fd0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6" name="Google Shape;56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1" name="Google Shape;61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6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3" name="Google Shape;83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4" name="Google Shape;84;p2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5" name="Google Shape;85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8" name="Google Shape;88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2" name="Google Shape;92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pc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5"/>
          <p:cNvSpPr txBox="1"/>
          <p:nvPr>
            <p:ph type="ctrTitle"/>
          </p:nvPr>
        </p:nvSpPr>
        <p:spPr>
          <a:xfrm>
            <a:off x="310896" y="91440"/>
            <a:ext cx="852220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i="0" lang="en" sz="2800">
                <a:solidFill>
                  <a:srgbClr val="17375E"/>
                </a:solidFill>
                <a:latin typeface="Arial"/>
                <a:ea typeface="Arial"/>
                <a:cs typeface="Arial"/>
                <a:sym typeface="Arial"/>
              </a:rPr>
              <a:t>Problem Statement</a:t>
            </a:r>
            <a:endParaRPr/>
          </a:p>
        </p:txBody>
      </p:sp>
      <p:sp>
        <p:nvSpPr>
          <p:cNvPr id="100" name="Google Shape;100;p25"/>
          <p:cNvSpPr txBox="1"/>
          <p:nvPr/>
        </p:nvSpPr>
        <p:spPr>
          <a:xfrm>
            <a:off x="365760" y="676656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pc="0" sz="1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Team:  </a:t>
            </a:r>
            <a:r>
              <a:rPr b="1" i="0" lang="en" spc="0" sz="12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Divyansh Dubey </a:t>
            </a:r>
            <a:r>
              <a:rPr b="0" i="0" lang="en" spc="0" sz="1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(12340690)</a:t>
            </a:r>
            <a:r>
              <a:rPr b="1" i="0" lang="en" spc="0" sz="12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   ·   Keshav Mishra </a:t>
            </a:r>
            <a:r>
              <a:rPr b="0" i="0" lang="en" spc="0" sz="1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(12341140)</a:t>
            </a:r>
            <a:r>
              <a:rPr b="1" i="0" lang="en" spc="0" sz="12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   ·   Lakshay Gupta </a:t>
            </a:r>
            <a:r>
              <a:rPr b="0" i="0" lang="en" spc="0" sz="1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(12341300)</a:t>
            </a:r>
            <a:endParaRPr/>
          </a:p>
        </p:txBody>
      </p:sp>
      <p:sp>
        <p:nvSpPr>
          <p:cNvPr id="101" name="Google Shape;101;p25"/>
          <p:cNvSpPr/>
          <p:nvPr/>
        </p:nvSpPr>
        <p:spPr>
          <a:xfrm>
            <a:off x="365760" y="1024128"/>
            <a:ext cx="8412480" cy="1335024"/>
          </a:xfrm>
          <a:prstGeom prst="roundRect">
            <a:avLst>
              <a:gd fmla="val 12000" name="adj"/>
            </a:avLst>
          </a:prstGeom>
          <a:solidFill>
            <a:srgbClr val="EEF4FB"/>
          </a:solidFill>
          <a:ln cap="flat" cmpd="sng" w="12700">
            <a:solidFill>
              <a:srgbClr val="2F6DB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6575" lIns="36575" spcFirstLastPara="1" rIns="36575" wrap="square" tIns="36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5"/>
          <p:cNvSpPr txBox="1"/>
          <p:nvPr/>
        </p:nvSpPr>
        <p:spPr>
          <a:xfrm>
            <a:off x="530352" y="1097280"/>
            <a:ext cx="813816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pc="0" sz="1500" u="none" cap="none" strike="noStrike">
                <a:solidFill>
                  <a:srgbClr val="17375E"/>
                </a:solidFill>
                <a:latin typeface="Arial"/>
                <a:ea typeface="Arial"/>
                <a:cs typeface="Arial"/>
                <a:sym typeface="Arial"/>
              </a:rPr>
              <a:t>Novelty  </a:t>
            </a:r>
            <a:r>
              <a:rPr b="1" i="0" lang="en" spc="0" sz="12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ECERC Revisited: Mitigating Category Confusion, Class Imbalance and Cause-Gating Miscalibration in Evidence-Cause Attention Networks for Multi-Modal Emotion Recognition in Conversation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pc="0" sz="11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ECERC explains each emotion through four cause types (self/cross-party events and emotions). Keeping its causal backbone fixed, we attach one targeted, separately ablated fix to each failure mode it leaves open: confusable emotions, rare emotions, and an uncalibrated way of weighing causes. The key new component turns cause weighting into an explicit, context-aware and availability-masked distribution over the four cause types, and we evaluate it for calibration (ECE), not only accuracy.</a:t>
            </a:r>
            <a:endParaRPr/>
          </a:p>
        </p:txBody>
      </p:sp>
      <p:sp>
        <p:nvSpPr>
          <p:cNvPr id="103" name="Google Shape;103;p25"/>
          <p:cNvSpPr txBox="1"/>
          <p:nvPr/>
        </p:nvSpPr>
        <p:spPr>
          <a:xfrm>
            <a:off x="365760" y="2450592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pc="0" sz="1500" u="none" cap="none" strike="noStrike">
                <a:solidFill>
                  <a:srgbClr val="17375E"/>
                </a:solidFill>
                <a:latin typeface="Arial"/>
                <a:ea typeface="Arial"/>
                <a:cs typeface="Arial"/>
                <a:sym typeface="Arial"/>
              </a:rPr>
              <a:t>Contributions</a:t>
            </a:r>
            <a:r>
              <a:rPr b="0" i="0" lang="en" spc="0" sz="11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   all three: reproducing ECERC and merging the fixes into the final systems</a:t>
            </a:r>
            <a:endParaRPr/>
          </a:p>
        </p:txBody>
      </p:sp>
      <p:sp>
        <p:nvSpPr>
          <p:cNvPr id="104" name="Google Shape;104;p25"/>
          <p:cNvSpPr/>
          <p:nvPr/>
        </p:nvSpPr>
        <p:spPr>
          <a:xfrm>
            <a:off x="365760" y="2779776"/>
            <a:ext cx="2697480" cy="2157984"/>
          </a:xfrm>
          <a:prstGeom prst="roundRect">
            <a:avLst>
              <a:gd fmla="val 12000" name="adj"/>
            </a:avLst>
          </a:prstGeom>
          <a:solidFill>
            <a:srgbClr val="DDF2DD"/>
          </a:solidFill>
          <a:ln cap="flat" cmpd="sng" w="15875">
            <a:solidFill>
              <a:srgbClr val="2E8B3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6575" lIns="36575" spcFirstLastPara="1" rIns="36575" wrap="square" tIns="36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25"/>
          <p:cNvSpPr txBox="1"/>
          <p:nvPr/>
        </p:nvSpPr>
        <p:spPr>
          <a:xfrm>
            <a:off x="493776" y="2862072"/>
            <a:ext cx="2441448" cy="19933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pc="0" sz="1300" u="none" cap="none" strike="noStrike">
                <a:solidFill>
                  <a:srgbClr val="1B5E28"/>
                </a:solidFill>
                <a:latin typeface="Arial"/>
                <a:ea typeface="Arial"/>
                <a:cs typeface="Arial"/>
                <a:sym typeface="Arial"/>
              </a:rPr>
              <a:t>Divyansh Dubey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" spc="0" sz="1050" u="none" cap="none" strike="noStrike">
                <a:solidFill>
                  <a:srgbClr val="2E8B3E"/>
                </a:solidFill>
                <a:latin typeface="Arial"/>
                <a:ea typeface="Arial"/>
                <a:cs typeface="Arial"/>
                <a:sym typeface="Arial"/>
              </a:rPr>
              <a:t>Category Confusion · IEMOCAP</a:t>
            </a:r>
            <a:endParaRPr/>
          </a:p>
          <a:p>
            <a:pPr indent="-146304" lvl="0" marL="14630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b="0" i="0" lang="en" spc="0" sz="10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Tested 6 methods in a 20-seed paired study</a:t>
            </a:r>
            <a:endParaRPr/>
          </a:p>
          <a:p>
            <a:pPr indent="-146304" lvl="0" marL="14630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b="0" i="0" lang="en" spc="0" sz="10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Extracted WavLM audio for 7,433 utterances; added VAD supervision</a:t>
            </a:r>
            <a:endParaRPr/>
          </a:p>
          <a:p>
            <a:pPr indent="-146304" lvl="0" marL="14630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b="0" i="0" lang="en" spc="0" sz="10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wF1 +1.43; 20% fewer clear Angry↔Frustrated errors</a:t>
            </a:r>
            <a:endParaRPr/>
          </a:p>
          <a:p>
            <a:pPr indent="-146304" lvl="0" marL="14630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b="0" i="0" lang="en" spc="0" sz="10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Merged L1 + L3: 72.43 wF1 ensemble; wrote the IEMOCAP report</a:t>
            </a:r>
            <a:endParaRPr/>
          </a:p>
        </p:txBody>
      </p:sp>
      <p:sp>
        <p:nvSpPr>
          <p:cNvPr id="106" name="Google Shape;106;p25"/>
          <p:cNvSpPr/>
          <p:nvPr/>
        </p:nvSpPr>
        <p:spPr>
          <a:xfrm>
            <a:off x="3223260" y="2779776"/>
            <a:ext cx="2697480" cy="2157984"/>
          </a:xfrm>
          <a:prstGeom prst="roundRect">
            <a:avLst>
              <a:gd fmla="val 12000" name="adj"/>
            </a:avLst>
          </a:prstGeom>
          <a:solidFill>
            <a:srgbClr val="EAE2F6"/>
          </a:solidFill>
          <a:ln cap="flat" cmpd="sng" w="15875">
            <a:solidFill>
              <a:srgbClr val="7A52B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6575" lIns="36575" spcFirstLastPara="1" rIns="36575" wrap="square" tIns="36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25"/>
          <p:cNvSpPr txBox="1"/>
          <p:nvPr/>
        </p:nvSpPr>
        <p:spPr>
          <a:xfrm>
            <a:off x="3351276" y="2862072"/>
            <a:ext cx="2441448" cy="19933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pc="0" sz="1300" u="none" cap="none" strike="noStrike">
                <a:solidFill>
                  <a:srgbClr val="45286F"/>
                </a:solidFill>
                <a:latin typeface="Arial"/>
                <a:ea typeface="Arial"/>
                <a:cs typeface="Arial"/>
                <a:sym typeface="Arial"/>
              </a:rPr>
              <a:t>Keshav Mishra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" spc="0" sz="1050" u="none" cap="none" strike="noStrike">
                <a:solidFill>
                  <a:srgbClr val="7A52B3"/>
                </a:solidFill>
                <a:latin typeface="Arial"/>
                <a:ea typeface="Arial"/>
                <a:cs typeface="Arial"/>
                <a:sym typeface="Arial"/>
              </a:rPr>
              <a:t>Class Imbalance · MELD</a:t>
            </a:r>
            <a:endParaRPr/>
          </a:p>
          <a:p>
            <a:pPr indent="-146304" lvl="0" marL="14630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b="0" i="0" lang="en" spc="0" sz="10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Tested 12 methods across loss, sampling, features and trained experts</a:t>
            </a:r>
            <a:endParaRPr/>
          </a:p>
          <a:p>
            <a:pPr indent="-146304" lvl="0" marL="14630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b="0" i="0" lang="en" spc="0" sz="10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Pre-registered zero-shot Qwen2.5-32B LLM fusion: mF1 +3.38</a:t>
            </a:r>
            <a:endParaRPr/>
          </a:p>
          <a:p>
            <a:pPr indent="-146304" lvl="0" marL="14630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b="0" i="0" lang="en" spc="0" sz="10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Spotted the release's focal γ = 1 loss</a:t>
            </a:r>
            <a:endParaRPr/>
          </a:p>
          <a:p>
            <a:pPr indent="-146304" lvl="0" marL="14630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b="0" i="0" lang="en" spc="0" sz="10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Merged L2 + L3: 53.77 mF1, +2.90 over authors; MELD report and figures</a:t>
            </a:r>
            <a:endParaRPr/>
          </a:p>
        </p:txBody>
      </p:sp>
      <p:sp>
        <p:nvSpPr>
          <p:cNvPr id="108" name="Google Shape;108;p25"/>
          <p:cNvSpPr/>
          <p:nvPr/>
        </p:nvSpPr>
        <p:spPr>
          <a:xfrm>
            <a:off x="6080760" y="2779776"/>
            <a:ext cx="2697480" cy="2157984"/>
          </a:xfrm>
          <a:prstGeom prst="roundRect">
            <a:avLst>
              <a:gd fmla="val 12000" name="adj"/>
            </a:avLst>
          </a:prstGeom>
          <a:solidFill>
            <a:srgbClr val="FDE6CF"/>
          </a:solidFill>
          <a:ln cap="flat" cmpd="sng" w="15875">
            <a:solidFill>
              <a:srgbClr val="E07B1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6575" lIns="36575" spcFirstLastPara="1" rIns="36575" wrap="square" tIns="36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25"/>
          <p:cNvSpPr txBox="1"/>
          <p:nvPr/>
        </p:nvSpPr>
        <p:spPr>
          <a:xfrm>
            <a:off x="6208776" y="2862072"/>
            <a:ext cx="2441448" cy="19933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pc="0" sz="1300" u="none" cap="none" strike="noStrike">
                <a:solidFill>
                  <a:srgbClr val="7A3E00"/>
                </a:solidFill>
                <a:latin typeface="Arial"/>
                <a:ea typeface="Arial"/>
                <a:cs typeface="Arial"/>
                <a:sym typeface="Arial"/>
              </a:rPr>
              <a:t>Lakshay Gupta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" spc="0" sz="1050" u="none" cap="none" strike="noStrike">
                <a:solidFill>
                  <a:srgbClr val="E07B16"/>
                </a:solidFill>
                <a:latin typeface="Arial"/>
                <a:ea typeface="Arial"/>
                <a:cs typeface="Arial"/>
                <a:sym typeface="Arial"/>
              </a:rPr>
              <a:t>Cause-Gating Calibration · both</a:t>
            </a:r>
            <a:endParaRPr/>
          </a:p>
          <a:p>
            <a:pPr indent="-146304" lvl="0" marL="14630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b="0" i="0" lang="en" spc="0" sz="10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Audited and rewrote ECERC as one package; ran 42-run ablation</a:t>
            </a:r>
            <a:endParaRPr/>
          </a:p>
          <a:p>
            <a:pPr indent="-146304" lvl="0" marL="14630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b="0" i="0" lang="en" spc="0" sz="10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CACG, utility gate loss and per-utterance cause weights</a:t>
            </a:r>
            <a:endParaRPr/>
          </a:p>
          <a:p>
            <a:pPr indent="-146304" lvl="0" marL="14630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b="0" i="0" lang="en" spc="0" sz="10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Temperature scaling (ECE 14.36 → 3.72), ensembles, low-confidence flag</a:t>
            </a:r>
            <a:endParaRPr/>
          </a:p>
          <a:p>
            <a:pPr indent="-146304" lvl="0" marL="14630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b="0" i="0" lang="en" spc="0" sz="10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Merged L1 + L2 + L3: 72.77 wF1, 53.82 mF1; demo, report, diagrams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114;p26"/>
          <p:cNvPicPr preferRelativeResize="0"/>
          <p:nvPr/>
        </p:nvPicPr>
        <p:blipFill rotWithShape="1">
          <a:blip r:embed="rId3">
            <a:alphaModFix/>
          </a:blip>
          <a:srcRect b="-5899" l="0" r="-5053" t="0"/>
          <a:stretch/>
        </p:blipFill>
        <p:spPr>
          <a:xfrm>
            <a:off x="5254850" y="0"/>
            <a:ext cx="3591551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950" y="344925"/>
            <a:ext cx="4995601" cy="40054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5700" y="61075"/>
            <a:ext cx="3636196" cy="5082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27"/>
          <p:cNvPicPr preferRelativeResize="0"/>
          <p:nvPr/>
        </p:nvPicPr>
        <p:blipFill rotWithShape="1">
          <a:blip r:embed="rId4">
            <a:alphaModFix/>
          </a:blip>
          <a:srcRect b="-2800" l="1570" r="-1570" t="2800"/>
          <a:stretch/>
        </p:blipFill>
        <p:spPr>
          <a:xfrm>
            <a:off x="5186700" y="0"/>
            <a:ext cx="353440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202" cy="27827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4875" y="668162"/>
            <a:ext cx="6536213" cy="1903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204" cy="23694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200" cy="305390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3358708"/>
            <a:ext cx="8839200" cy="16071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204" cy="4018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204" cy="26931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2997995"/>
            <a:ext cx="8839196" cy="19525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